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011680"/>
            <a:ext cx="2286000" cy="22860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Damage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System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457200" y="2788920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| CNN | VGG16 Transfer Learning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291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· Keras · Streamlit · OpenCV · Python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Deep Learning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presentation covers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5156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51560"/>
            <a:ext cx="64008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29844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143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16276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dataset &amp; problem statement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51560"/>
            <a:ext cx="64008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29844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1430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394960" y="13258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94960" y="162763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Keras, OpenCV, Streamlit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28600" y="233172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2331720"/>
            <a:ext cx="64008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257860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2423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914400" y="2606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14400" y="29077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18,992 images, VGG16 fine-tuning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709160" y="233172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709160" y="2331720"/>
            <a:ext cx="64008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578608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2423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394960" y="2606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394960" y="29077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transfer learning pipeline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228600" y="361188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228600" y="3611880"/>
            <a:ext cx="64008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858768"/>
            <a:ext cx="411480" cy="4114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14400" y="3703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914400" y="3886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Demo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914400" y="41879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predictions — damaged vs undamaged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709160" y="3611880"/>
            <a:ext cx="42976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709160" y="3611880"/>
            <a:ext cx="64008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858768"/>
            <a:ext cx="411480" cy="4114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394960" y="37033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5394960" y="38862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394960" y="418795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key takeaways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dataset &amp; problem statement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160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41605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Vehicle Damage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901952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accidents and insurance claims require fast, accurate damage assessment. Manual inspection is time-consuming and prone to human error.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binary image classification model using CNN (VGG16 transfer learning) to automatically detect whether a vehicle is damaged or undamaged — enabling rapid, scalable, AI-powered assessment.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4343400"/>
            <a:ext cx="416052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4389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 |  Damaged vs Undamaged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3434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005840"/>
            <a:ext cx="64008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515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09160" y="12527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Car Image Dataset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1508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18,992 total images  |  Undamaged &amp; Damaged categories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28600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28600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18,992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228600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228600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Split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33756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333756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3,992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3337560"/>
            <a:ext cx="20116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66560" y="3337560"/>
            <a:ext cx="201168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66560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ecosystem powering this project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model training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1887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918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CNN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transfer learning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887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63640" y="17190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(cv2)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636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reading &amp; BGR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28600" y="27889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27889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9718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0040" y="3502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2004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operations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normalization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27889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7889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297180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291840" y="3502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29184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deployment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real-time UI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72200" y="27889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72200" y="278892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97180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63640" y="3502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63640" y="37947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confusion matrix,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Training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preparation, class structure, and model training setup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41148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33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STRUCTURE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1737360" cy="1188720"/>
          </a:xfrm>
          <a:prstGeom prst="rect">
            <a:avLst/>
          </a:prstGeom>
          <a:solidFill>
            <a:srgbClr val="E6F7F5"/>
          </a:solidFill>
          <a:ln w="6350">
            <a:solidFill>
              <a:srgbClr val="00A89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Undamaged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331720" y="1371600"/>
            <a:ext cx="173736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E53E3E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4630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331720" y="1920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331720" y="2148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28600" y="2880360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28600" y="2880360"/>
            <a:ext cx="41148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20040" y="29077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65760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240280" y="3246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65760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224028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Crossentropy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65760" y="3831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240280" y="3831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65760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240280" y="4123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6576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Split: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2240280" y="44165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572000" y="1005840"/>
            <a:ext cx="434340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572000" y="1005840"/>
            <a:ext cx="4343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663440" y="1033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663440" y="146304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6344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5047488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Images via os.listdir()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5047488" y="1664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Undamaged &amp; Damaged folders, assign labels 0 and 1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663440" y="201168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66344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5047488" y="1965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cv2.imread()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047488" y="22128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loaded in BGR format (OpenCV default)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663440" y="256032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6344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5047488" y="2514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224 × 224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5047488" y="27614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input shape required by VGG16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4663440" y="310896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4663440" y="3108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5047488" y="30632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&amp; Split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5047488" y="3310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train / 3,992 test (random shuffle applied)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4663440" y="365760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466344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5047488" y="3611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divide by 255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5047488" y="38587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pixel values to [0, 1] range for training</a:t>
            </a:r>
            <a:endParaRPr lang="en-US" sz="950" dirty="0"/>
          </a:p>
        </p:txBody>
      </p:sp>
      <p:sp>
        <p:nvSpPr>
          <p:cNvPr id="53" name="Shape 49"/>
          <p:cNvSpPr/>
          <p:nvPr/>
        </p:nvSpPr>
        <p:spPr>
          <a:xfrm>
            <a:off x="4663440" y="4206240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66344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5047488" y="4160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→ RGB in App</a:t>
            </a:r>
            <a:endParaRPr lang="en-US" sz="1100" dirty="0"/>
          </a:p>
        </p:txBody>
      </p:sp>
      <p:sp>
        <p:nvSpPr>
          <p:cNvPr id="56" name="Text 52"/>
          <p:cNvSpPr/>
          <p:nvPr/>
        </p:nvSpPr>
        <p:spPr>
          <a:xfrm>
            <a:off x="5047488" y="44074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reverses channel order to match training preprocessing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Transfer Learning — frozen base + custom classification head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" y="1097280"/>
            <a:ext cx="1417320" cy="9601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2940" y="1188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62940" y="1481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7692" y="1549908"/>
            <a:ext cx="128016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63140" y="1097280"/>
            <a:ext cx="141732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3140" y="1188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63140" y="1481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Conv Layers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weights)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7892" y="1549908"/>
            <a:ext cx="128016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63340" y="1097280"/>
            <a:ext cx="1417320" cy="96012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340" y="1188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63340" y="1481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7×7×512 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25,088 units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08092" y="1549908"/>
            <a:ext cx="128016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3540" y="1097280"/>
            <a:ext cx="1417320" cy="9601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3540" y="1188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256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63540" y="1481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activation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08292" y="1549908"/>
            <a:ext cx="128016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63740" y="1097280"/>
            <a:ext cx="1417320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3740" y="1188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63740" y="1481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331720"/>
            <a:ext cx="41148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331720"/>
            <a:ext cx="64008" cy="2468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VGG16?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27614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on ImageNet (1.2M images, 1000 classes)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" y="3108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feature extractor for visual patterns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" y="34564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= fast convergence with small datasets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4048" y="3803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base layers → only custom head is trainable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4048" y="41513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high accuracy with significantly less compute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2331720"/>
            <a:ext cx="42519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2331720"/>
            <a:ext cx="64008" cy="2468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3957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 LAYERS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18888" y="2798064"/>
            <a:ext cx="18288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761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vgg_base.output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74920" y="29626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7 × 512 feature maps from VGG16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18888" y="3182112"/>
            <a:ext cx="18288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145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Flatten()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74920" y="334670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3D output → 25,088 flat vector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18888" y="3566160"/>
            <a:ext cx="18288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4920" y="3529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Dense(256, relu)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74920" y="37307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 — learns combinations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18888" y="3950208"/>
            <a:ext cx="18288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Dropout(0.5)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74920" y="41148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— prevents overfitting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18888" y="4334256"/>
            <a:ext cx="182880" cy="1828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4297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Dense(2, softmax)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74920" y="44988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[P(Undamaged), P(Damaged)]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— undamaged vehicle predictions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02336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SUV — No Damage (Confidence: 1.00)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251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51560"/>
            <a:ext cx="4160520" cy="3200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4434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Suzuki Dzire — No Damage (Confidence: 1.00)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60320" y="4754880"/>
            <a:ext cx="4023360" cy="292608"/>
          </a:xfrm>
          <a:prstGeom prst="rect">
            <a:avLst/>
          </a:prstGeom>
          <a:solidFill>
            <a:srgbClr val="E6F7F5"/>
          </a:solidFill>
          <a:ln w="6350">
            <a:solidFill>
              <a:srgbClr val="00A89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478231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07792" y="4773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Damage Detected — Model correctly classifies intact vehicles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Demo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— damaged vehicle predictions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051560"/>
            <a:ext cx="402336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Dent — Damaged Detected (Confidence: 0.78)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251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9160" y="1051560"/>
            <a:ext cx="4160520" cy="3200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4434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Crash (BMW) — Damaged Detected (Confidence: 0.60)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560320" y="4754880"/>
            <a:ext cx="4023360" cy="292608"/>
          </a:xfrm>
          <a:prstGeom prst="rect">
            <a:avLst/>
          </a:prstGeom>
          <a:solidFill>
            <a:srgbClr val="FEF2F2"/>
          </a:solidFill>
          <a:ln w="6350">
            <a:solidFill>
              <a:srgbClr val="E53E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478231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07792" y="47731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Damaged Vehicle Detected — Model flags crash and dent damage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Features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 of the deployed web application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64008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117043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143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" y="150876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JPG, JPEG, PNG formats up to 200MB via drag &amp; drop or browse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64008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17043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13632" y="1143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Model Loading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150876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@st.cache_resource ensures the VGG16 model loads once — fast repeated inference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00584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005840"/>
            <a:ext cx="64008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17043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85432" y="11430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81928" y="150876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numerical confidence (0-1) with a visual progress bar for transparency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228600" y="27889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228600" y="2788920"/>
            <a:ext cx="64008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295351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41832" y="2926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38328" y="329184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slider in sidebar — set minimum confidence for a valid prediction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27889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788920"/>
            <a:ext cx="64008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953512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13632" y="2926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Result Display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10128" y="329184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success for 'No Damage', red error for 'Damaged Vehicle Detected'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172200" y="2788920"/>
            <a:ext cx="27432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72200" y="2788920"/>
            <a:ext cx="64008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2953512"/>
            <a:ext cx="384048" cy="38404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85432" y="292608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 Preprocessing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81928" y="329184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reverses RGB→BGR to match cv2.imread() training, ensuring accurate results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2743200" cy="27432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627632"/>
            <a:ext cx="32004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2-class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256032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Output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66344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66344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Used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18,992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766560" y="2423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2880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VGG16 transfer learning dramatically accelerates training with pre-learned visual features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BGR→RGB channel consistency between cv2 training and PIL inference is critical for accuracy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 slider provides explainability and control in real-world deployment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cases: insurance claim automation, fleet management, dealership inspection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Deep Learning Project  |  TensorFlow · Keras · Streamlit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Damage Detection System</dc:title>
  <dc:subject>PptxGenJS Presentation</dc:subject>
  <dc:creator>PptxGenJS</dc:creator>
  <cp:lastModifiedBy>PptxGenJS</cp:lastModifiedBy>
  <cp:revision>1</cp:revision>
  <dcterms:created xsi:type="dcterms:W3CDTF">2026-05-16T06:53:59Z</dcterms:created>
  <dcterms:modified xsi:type="dcterms:W3CDTF">2026-05-16T06:53:59Z</dcterms:modified>
</cp:coreProperties>
</file>